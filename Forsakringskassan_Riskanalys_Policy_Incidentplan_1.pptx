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73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53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74320"/>
            <a:ext cx="1371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7772400" y="320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5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Försäkringskassan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RISKANALYS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5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Dataskydd &amp; IT-säkerhet</a:t>
            </a:r>
            <a:endParaRPr lang="en-US" sz="4400"/>
          </a:p>
          <a:p>
            <a:pPr marL="0" indent="0">
              <a:lnSpc>
                <a:spcPts val="45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Incidenthantering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Identifierade risker, sannolikhet och konsekvenser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3: Ransomware-attack krypterar system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KRITISK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0A5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
</a:t>
            </a: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Ransomware-grupp får fäste via phishing eller exploaterad sårbarhet. Krypterar servrar och databaser. Kräver lösensumma och hotar publicera data. Verksamheten stannar helt.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54578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0A5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SANNOLIKHET
</a:t>
            </a: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HÖG - Ransomware-attacker ökar kraftigt. Myndigheter är prioriterade mål pga kritisk verksamhet.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274320" y="2331721"/>
            <a:ext cx="859536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457200" y="23545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0A5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KONSEKVENS
</a:t>
            </a: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KRITISK</a:t>
            </a:r>
            <a:endParaRPr lang="en-US" sz="1100"/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Fullständigt driftstopp - inga utbetalningar</a:t>
            </a:r>
            <a:endParaRPr lang="en-US" sz="1100"/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Människor utan sjukpenning/föräldrapenning</a:t>
            </a:r>
            <a:endParaRPr lang="en-US" sz="1100"/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potentiellt stulen OCH krypterad</a:t>
            </a:r>
            <a:endParaRPr lang="en-US" sz="1100"/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Lösen betalas EJ enligt policy → lång återställning</a:t>
            </a:r>
            <a:endParaRPr lang="en-US" sz="1100"/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Publicering av data på dark web</a:t>
            </a:r>
            <a:endParaRPr lang="en-US" sz="1100"/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Enorm samhällspåverkan och </a:t>
            </a:r>
            <a:r>
              <a:rPr lang="en-US" sz="100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mediauppmärksamhet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274320" y="4045404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420461" y="4045404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0A5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ÅTGÄRDER
</a:t>
            </a: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säkerhetskopior (3-2-1-regeln)</a:t>
            </a:r>
            <a:endParaRPr lang="en-US" sz="1100"/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Endpoint Detection &amp; Response (EDR) på alla enheter</a:t>
            </a:r>
            <a:endParaRPr lang="en-US" sz="1100"/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E-postfiltrering och anti-phishing-träning</a:t>
            </a:r>
            <a:endParaRPr lang="en-US" sz="1100"/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Nätverkssegmentering - begränsa lateral movement</a:t>
            </a:r>
            <a:endParaRPr lang="en-US" sz="1100"/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Incident Response Plan med övningar</a:t>
            </a:r>
            <a:endParaRPr lang="en-US" sz="1100"/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Regelbundna återställningstester</a:t>
            </a:r>
            <a:endParaRPr lang="en-US" sz="1100"/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Cyber insurance med ransomware-skydd</a:t>
            </a:r>
            <a:endParaRPr lang="en-US" sz="11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14DAEC-DB52-AD00-D99D-CBB820F40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560"/>
            <a:ext cx="9144000" cy="5143500"/>
          </a:xfrm>
          <a:prstGeom prst="rect">
            <a:avLst/>
          </a:prstGeom>
        </p:spPr>
      </p:pic>
      <p:sp>
        <p:nvSpPr>
          <p:cNvPr id="16" name="Shape 17">
            <a:extLst>
              <a:ext uri="{FF2B5EF4-FFF2-40B4-BE49-F238E27FC236}">
                <a16:creationId xmlns:a16="http://schemas.microsoft.com/office/drawing/2014/main" id="{3E9B1D81-1F5B-B3AB-4BEC-E140531CB11A}"/>
              </a:ext>
            </a:extLst>
          </p:cNvPr>
          <p:cNvSpPr/>
          <p:nvPr/>
        </p:nvSpPr>
        <p:spPr>
          <a:xfrm>
            <a:off x="5290512" y="2344530"/>
            <a:ext cx="301177" cy="221900"/>
          </a:xfrm>
          <a:prstGeom prst="rect">
            <a:avLst/>
          </a:prstGeom>
          <a:solidFill>
            <a:srgbClr val="5A6C7D"/>
          </a:solidFill>
          <a:ln/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54460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A5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Riskanalysmetodik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solidFill>
            <a:srgbClr val="0A5F4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RISKMATRIS: SANNOLIKHET × KONSEKVENS</a:t>
            </a:r>
            <a:endParaRPr lang="en-US" sz="11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114800" cy="22860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Liten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Måttlig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Stor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Kritisk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Mycket hög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MEDEL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HÖG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KRITISK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KRITISK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Hög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LÅG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MEDEL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HÖG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KRITISK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Måttlig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LÅG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LÅG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MEDEL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HÖG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Låg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LÅG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LÅG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LÅG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MEDEL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005840"/>
            <a:ext cx="4023360" cy="3657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4"/>
          <p:cNvSpPr/>
          <p:nvPr/>
        </p:nvSpPr>
        <p:spPr>
          <a:xfrm>
            <a:off x="4846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RISKNIVÅER &amp; ÅTGÄRDER</a:t>
            </a:r>
            <a:endParaRPr lang="en-US" sz="1100"/>
          </a:p>
        </p:txBody>
      </p:sp>
      <p:sp>
        <p:nvSpPr>
          <p:cNvPr id="8" name="Shape 5"/>
          <p:cNvSpPr/>
          <p:nvPr/>
        </p:nvSpPr>
        <p:spPr>
          <a:xfrm>
            <a:off x="4846320" y="1463040"/>
            <a:ext cx="4023360" cy="5486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6"/>
          <p:cNvSpPr/>
          <p:nvPr/>
        </p:nvSpPr>
        <p:spPr>
          <a:xfrm>
            <a:off x="4937760" y="153619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KRITISK
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Omedelbar åtgärd + ledning informeras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846320" y="2057400"/>
            <a:ext cx="4023360" cy="5486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8"/>
          <p:cNvSpPr/>
          <p:nvPr/>
        </p:nvSpPr>
        <p:spPr>
          <a:xfrm>
            <a:off x="4937760" y="21305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HÖG
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Åtgärd inom 24h + DPO kontaktas</a:t>
            </a:r>
            <a:endParaRPr lang="en-US" sz="1200"/>
          </a:p>
        </p:txBody>
      </p:sp>
      <p:sp>
        <p:nvSpPr>
          <p:cNvPr id="12" name="Shape 9"/>
          <p:cNvSpPr/>
          <p:nvPr/>
        </p:nvSpPr>
        <p:spPr>
          <a:xfrm>
            <a:off x="4846320" y="2651760"/>
            <a:ext cx="4023360" cy="5486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Text 10"/>
          <p:cNvSpPr/>
          <p:nvPr/>
        </p:nvSpPr>
        <p:spPr>
          <a:xfrm>
            <a:off x="4937760" y="272491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MEDEL
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Åtgärd inom 1 vecka + dokumenteras</a:t>
            </a:r>
            <a:endParaRPr lang="en-US" sz="1200"/>
          </a:p>
        </p:txBody>
      </p:sp>
      <p:sp>
        <p:nvSpPr>
          <p:cNvPr id="14" name="Shape 11"/>
          <p:cNvSpPr/>
          <p:nvPr/>
        </p:nvSpPr>
        <p:spPr>
          <a:xfrm>
            <a:off x="4846320" y="3246120"/>
            <a:ext cx="4023360" cy="5486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2"/>
          <p:cNvSpPr/>
          <p:nvPr/>
        </p:nvSpPr>
        <p:spPr>
          <a:xfrm>
            <a:off x="4937760" y="33192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LÅG
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Accepteras eller åtgärdas vid tillfälle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274320" y="4572000"/>
            <a:ext cx="859536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Y-axel = </a:t>
            </a:r>
            <a:r>
              <a:rPr lang="en-US" sz="900" err="1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Sannolikhet</a:t>
            </a:r>
            <a:r>
              <a:rPr lang="en-US" sz="900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 - </a:t>
            </a:r>
            <a:r>
              <a:rPr lang="en-US" sz="900" err="1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Trolighet</a:t>
            </a:r>
            <a:r>
              <a:rPr lang="en-US" sz="900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 (Låg → </a:t>
            </a:r>
            <a:r>
              <a:rPr lang="en-US" sz="900" err="1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Mycket</a:t>
            </a:r>
            <a:r>
              <a:rPr lang="en-US" sz="900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900" err="1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hög</a:t>
            </a:r>
            <a:r>
              <a:rPr lang="en-US" sz="900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) | X-axel = </a:t>
            </a:r>
            <a:r>
              <a:rPr lang="en-US" sz="900" err="1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Konsekvens</a:t>
            </a:r>
            <a:r>
              <a:rPr lang="en-US" sz="900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 - </a:t>
            </a:r>
            <a:r>
              <a:rPr lang="en-US" sz="900" err="1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Allvarlighet</a:t>
            </a:r>
            <a:r>
              <a:rPr lang="en-US" sz="900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 (Liten → </a:t>
            </a:r>
            <a:r>
              <a:rPr lang="en-US" sz="900" err="1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Kritisk</a:t>
            </a:r>
            <a:r>
              <a:rPr lang="en-US" sz="900">
                <a:solidFill>
                  <a:srgbClr val="5A6C7D"/>
                </a:solidFill>
                <a:latin typeface="Arial"/>
                <a:ea typeface="Arial" pitchFamily="34" charset="-122"/>
                <a:cs typeface="Arial"/>
              </a:rPr>
              <a:t>)</a:t>
            </a:r>
            <a:endParaRPr lang="en-US"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647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RISK 1: </a:t>
            </a:r>
            <a:r>
              <a:rPr lang="en-US" sz="2800" b="1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Personuppgiftsläckage</a:t>
            </a:r>
            <a:r>
              <a:rPr lang="en-US" sz="28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 via extern attack</a:t>
            </a:r>
            <a:endParaRPr lang="en-US" sz="2800">
              <a:latin typeface="Georg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KRITISK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280741" y="886058"/>
            <a:ext cx="859536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378372" y="902379"/>
            <a:ext cx="8229600" cy="7613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0A5F4F"/>
                </a:solidFill>
                <a:latin typeface="Arial"/>
                <a:ea typeface="Arial" pitchFamily="34" charset="-122"/>
                <a:cs typeface="Arial"/>
              </a:rPr>
              <a:t>SCENARIO
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Cyberbrottslingar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exploaterar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sårbarhet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extern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tjänst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eller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phishing-attack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lyckas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.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Obehörig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åtkomst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till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databas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med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personuppgifter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för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miljontals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svenskar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200">
              <a:latin typeface="Arial"/>
              <a:cs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90594" y="1663625"/>
            <a:ext cx="8588939" cy="52038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378372" y="1664724"/>
            <a:ext cx="8229600" cy="5173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0A5F4F"/>
                </a:solidFill>
                <a:latin typeface="Arial"/>
                <a:ea typeface="Arial" pitchFamily="34" charset="-122"/>
                <a:cs typeface="Arial"/>
              </a:rPr>
              <a:t>SANNOLIKHET
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HÖG -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Försäkringskassan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är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attraktivt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mål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med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värdefull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data. Attacker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sker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kontinuerligt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200">
              <a:latin typeface="Arial"/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0741" y="2329152"/>
            <a:ext cx="8588939" cy="1412952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374940" y="2327261"/>
            <a:ext cx="82296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0A5F4F"/>
                </a:solidFill>
                <a:latin typeface="Arial"/>
                <a:ea typeface="Arial" pitchFamily="34" charset="-122"/>
                <a:cs typeface="Arial"/>
              </a:rPr>
              <a:t>KONSEKVENS
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KRITISK</a:t>
            </a:r>
            <a:endParaRPr lang="en-US" sz="1200"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Personuppgifter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för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miljontals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personer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läcker</a:t>
            </a:r>
            <a:endParaRPr lang="en-US" sz="1200" err="1"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Känsliga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hälso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- och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ekonomiska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uppgifter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exponeras</a:t>
            </a:r>
            <a:endParaRPr lang="en-US" sz="1200" err="1"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Identitetsstöld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och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bedrägeri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mot </a:t>
            </a:r>
            <a:endParaRPr lang="en-US" sz="1200">
              <a:solidFill>
                <a:srgbClr val="2C3E50"/>
              </a:solidFill>
              <a:latin typeface="Arial"/>
              <a:ea typeface="Calibri"/>
              <a:cs typeface="Arial"/>
            </a:endParaRPr>
          </a:p>
          <a:p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Böter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från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IMY –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Integritetsmyndigheten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(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upp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till 20M EUR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eller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4% av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omsättning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)</a:t>
            </a:r>
            <a:endParaRPr lang="en-US" sz="1200">
              <a:latin typeface="Arial"/>
              <a:ea typeface="Calibri"/>
              <a:cs typeface="Arial"/>
            </a:endParaRPr>
          </a:p>
          <a:p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Förtroendet</a:t>
            </a:r>
            <a:endParaRPr lang="en-US" sz="1200" err="1">
              <a:solidFill>
                <a:srgbClr val="2C3E5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85668" y="3744093"/>
            <a:ext cx="8588939" cy="139487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374941" y="3742368"/>
            <a:ext cx="8229600" cy="13972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0A5F4F"/>
                </a:solidFill>
                <a:latin typeface="Arial"/>
                <a:ea typeface="Arial" pitchFamily="34" charset="-122"/>
                <a:cs typeface="Arial"/>
              </a:rPr>
              <a:t>ÅTGÄRDER
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Intrångsskydd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(IDS/IPS) och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kontinuerlig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övervakning</a:t>
            </a:r>
            <a:endParaRPr lang="en-US" sz="12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Multifaktorautentisering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för all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systemåtkomst</a:t>
            </a:r>
            <a:endParaRPr lang="en-US" sz="12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Regelbunden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sårbarhetsscanning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och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penetrationstester</a:t>
            </a:r>
            <a:endParaRPr lang="en-US" sz="1200">
              <a:latin typeface="Arial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Begränsad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åtkomst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enligt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least privilege-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principen</a:t>
            </a:r>
            <a:endParaRPr lang="en-US" sz="12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Incidentberedskap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med 24/7 SOC</a:t>
            </a:r>
            <a:endParaRPr lang="en-US" sz="12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Regelbundna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säkerhetskopior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(offline)</a:t>
            </a:r>
            <a:endParaRPr lang="en-US"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RISK 2: </a:t>
            </a:r>
            <a:r>
              <a:rPr lang="en-US" sz="2800" b="1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Insiderhot</a:t>
            </a:r>
            <a:r>
              <a:rPr lang="en-US" sz="28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 - </a:t>
            </a:r>
            <a:r>
              <a:rPr lang="en-US" sz="2800" b="1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Anställd</a:t>
            </a:r>
            <a:r>
              <a:rPr lang="en-US" sz="28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missbrukar</a:t>
            </a:r>
            <a:r>
              <a:rPr lang="en-US" sz="28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åtkomst</a:t>
            </a:r>
            <a:endParaRPr lang="en-US" sz="3200"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HÖG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274320" y="818080"/>
            <a:ext cx="859536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457200" y="909520"/>
            <a:ext cx="82296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 b="1">
                <a:solidFill>
                  <a:srgbClr val="0A5F4F"/>
                </a:solidFill>
                <a:latin typeface="Arial"/>
                <a:ea typeface="Arial" pitchFamily="34" charset="-122"/>
                <a:cs typeface="Arial"/>
              </a:rPr>
              <a:t>SCENARIO
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Missnöjd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medarbetare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eller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en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medarbetare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 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ekonomisk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knipa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200" err="1">
              <a:solidFill>
                <a:srgbClr val="2C3E50"/>
              </a:solidFill>
              <a:latin typeface="Arial"/>
              <a:ea typeface="Calibri" panose="020F0502020204030204"/>
              <a:cs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80741" y="1692411"/>
            <a:ext cx="8588939" cy="59102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462126" y="1675463"/>
            <a:ext cx="8229600" cy="6214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 b="1">
                <a:solidFill>
                  <a:srgbClr val="0A5F4F"/>
                </a:solidFill>
                <a:latin typeface="Arial"/>
                <a:ea typeface="Arial" pitchFamily="34" charset="-122"/>
                <a:cs typeface="Arial"/>
              </a:rPr>
              <a:t>SANNOLIKHET
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MÅTTLIG -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Tusentals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anställda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har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tillgång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till system.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Strikta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policyer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finns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men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mänsklig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faktor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kvarstår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.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Insiderhot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är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Farligt</a:t>
            </a:r>
            <a:endParaRPr lang="en-US" sz="1200" err="1">
              <a:solidFill>
                <a:srgbClr val="2C3E50"/>
              </a:solidFill>
              <a:latin typeface="Arial"/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0741" y="2419050"/>
            <a:ext cx="8588939" cy="1387268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458695" y="2420591"/>
            <a:ext cx="8229600" cy="15107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0A5F4F"/>
                </a:solidFill>
                <a:latin typeface="Arial"/>
                <a:ea typeface="Arial" pitchFamily="34" charset="-122"/>
                <a:cs typeface="Arial"/>
              </a:rPr>
              <a:t>KONSEKVENS
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STOR</a:t>
            </a:r>
            <a:endParaRPr lang="en-US" sz="1200"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Obehörig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åtkomst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till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enskildas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känsliga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uppgifter</a:t>
            </a:r>
            <a:endParaRPr lang="en-US" sz="1200" err="1"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Potentiell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dataspridning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eller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försäljning</a:t>
            </a:r>
            <a:endParaRPr lang="en-US" sz="1200" err="1"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Manipulation av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utbetalningar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eller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beslut</a:t>
            </a:r>
            <a:endParaRPr lang="en-US" sz="1200" err="1"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Förtroendeförlust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internt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och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externt</a:t>
            </a:r>
            <a:endParaRPr lang="en-US" sz="1200" err="1"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Polisanmälan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och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eventuellt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åtal</a:t>
            </a:r>
            <a:endParaRPr lang="en-US" sz="1200" err="1">
              <a:solidFill>
                <a:srgbClr val="00000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662" y="3954780"/>
            <a:ext cx="8601439" cy="1170237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457200" y="3946468"/>
            <a:ext cx="8229600" cy="116566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0A5F4F"/>
                </a:solidFill>
                <a:latin typeface="Arial"/>
                <a:ea typeface="Arial" pitchFamily="34" charset="-122"/>
                <a:cs typeface="Arial"/>
              </a:rPr>
              <a:t>ÅTGÄRDER
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Rollbaserad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åtkomst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(RBAC) - bara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nödvändig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access</a:t>
            </a:r>
            <a:endParaRPr lang="en-US" sz="12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Loggning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av ALL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åtkomst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till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personuppgifter</a:t>
            </a:r>
            <a:endParaRPr lang="en-US" sz="1200" err="1"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Automatisk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varning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vid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avvikande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beteende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(UEBA)</a:t>
            </a:r>
            <a:endParaRPr lang="en-US" sz="1200"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Regelbundna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åtkomstgranskningar</a:t>
            </a:r>
            <a:endParaRPr lang="en-US" sz="1200" err="1"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Bakgrundskontroller</a:t>
            </a:r>
            <a:r>
              <a:rPr lang="en-US" sz="12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vid </a:t>
            </a:r>
            <a:r>
              <a:rPr lang="en-US" sz="12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anställning</a:t>
            </a:r>
            <a:endParaRPr lang="en-US" sz="1200" err="1">
              <a:latin typeface="Arial"/>
              <a:cs typeface="Arial"/>
            </a:endParaRPr>
          </a:p>
          <a:p>
            <a:pPr marL="0" indent="0">
              <a:buNone/>
            </a:pPr>
            <a:endParaRPr lang="en-US" sz="1000">
              <a:solidFill>
                <a:srgbClr val="2C3E5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RISK 3: Ransomware-attack </a:t>
            </a:r>
            <a:r>
              <a:rPr lang="en-US" sz="2800" b="1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krypterar</a:t>
            </a:r>
            <a:r>
              <a:rPr lang="en-US" sz="28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 system</a:t>
            </a:r>
            <a:endParaRPr lang="en-US" sz="2800">
              <a:latin typeface="Georg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KRITISK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274320" y="818080"/>
            <a:ext cx="8595360" cy="822189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457200" y="819621"/>
            <a:ext cx="82296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0A5F4F"/>
                </a:solidFill>
                <a:latin typeface="Arial"/>
                <a:ea typeface="Arial" pitchFamily="34" charset="-122"/>
                <a:cs typeface="Arial"/>
              </a:rPr>
              <a:t>SCENARIO
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Ransomware-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grupp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får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fäste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via phishing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eller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exploaterad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sårbarhet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.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Krypterar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servrar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och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databaser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.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Kräver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lösensumma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och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hotar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publicera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data.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Verksamheten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stannar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helt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400">
              <a:latin typeface="Arial"/>
              <a:cs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80741" y="1615355"/>
            <a:ext cx="8588939" cy="69376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457200" y="1732480"/>
            <a:ext cx="82296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0A5F4F"/>
                </a:solidFill>
                <a:latin typeface="Arial"/>
                <a:ea typeface="Arial" pitchFamily="34" charset="-122"/>
                <a:cs typeface="Arial"/>
              </a:rPr>
              <a:t>SANNOLIKHET
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HÖG - Ransomware-attacker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ökar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kraftigt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.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Myndigheter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är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prioriterade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mål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pga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kritisk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verksamhet</a:t>
            </a:r>
            <a:r>
              <a:rPr lang="en-US" sz="14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400">
              <a:latin typeface="Arial"/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316309"/>
            <a:ext cx="8595360" cy="1329475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457200" y="2414170"/>
            <a:ext cx="82296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0A5F4F"/>
                </a:solidFill>
                <a:latin typeface="Arial"/>
                <a:ea typeface="Arial" pitchFamily="34" charset="-122"/>
                <a:cs typeface="Arial"/>
              </a:rPr>
              <a:t>KONSEKVENS
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KRITISK</a:t>
            </a:r>
            <a:endParaRPr lang="en-US" sz="11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Fullständigt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driftstopp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- inga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utbetalningar</a:t>
            </a:r>
            <a:endParaRPr lang="en-US" sz="1100" err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Människor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utan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sjukpenning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/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föräldrapenning</a:t>
            </a:r>
            <a:endParaRPr lang="en-US" sz="1100" err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Data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potentiellt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stulen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OCH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krypterad</a:t>
            </a:r>
            <a:endParaRPr lang="en-US" sz="1100" err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Lösen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betalas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EJ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enligt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policy →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lång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återställning</a:t>
            </a:r>
            <a:endParaRPr lang="en-US" sz="1100" err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Publicering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av data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på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dark web</a:t>
            </a:r>
            <a:endParaRPr lang="en-US" sz="1100">
              <a:latin typeface="Arial"/>
              <a:cs typeface="Arial"/>
            </a:endParaRPr>
          </a:p>
          <a:p>
            <a:pPr marL="0" indent="0">
              <a:buNone/>
            </a:pPr>
            <a:endParaRPr lang="en-US" sz="1000">
              <a:solidFill>
                <a:srgbClr val="2C3E50"/>
              </a:solidFill>
              <a:latin typeface="Arial"/>
              <a:cs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3646555"/>
            <a:ext cx="8595360" cy="13412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463621" y="3782945"/>
            <a:ext cx="82296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0A5F4F"/>
                </a:solidFill>
                <a:latin typeface="Arial"/>
                <a:ea typeface="Arial" pitchFamily="34" charset="-122"/>
                <a:cs typeface="Arial"/>
              </a:rPr>
              <a:t>ÅTGÄRDER
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Offline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säkerhetskopior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(3-2-1-regeln)</a:t>
            </a:r>
            <a:endParaRPr lang="en-US" sz="11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Endpoint Detection &amp; Response (EDR)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på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alla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enheter</a:t>
            </a:r>
            <a:endParaRPr lang="en-US" sz="1100" err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E-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postfiltrering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och anti-phishing-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träning</a:t>
            </a:r>
            <a:endParaRPr lang="en-US" sz="1100" err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Nätverkssegmentering</a:t>
            </a: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endParaRPr lang="en-US" sz="1000">
              <a:solidFill>
                <a:srgbClr val="2C3E50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Privileged Access Management (PAM)</a:t>
            </a:r>
            <a:endParaRPr lang="en-US" sz="11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0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Cyber insurance med ransomware-</a:t>
            </a:r>
            <a:r>
              <a:rPr lang="en-US" sz="10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skydd</a:t>
            </a:r>
            <a:endParaRPr lang="en-US" sz="1100" err="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A5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Sammanställning av identifierade risker</a:t>
            </a:r>
            <a:endParaRPr lang="en-US" sz="36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138160" cy="3200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Sannolikhet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Konsekvens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Risknivå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1. Personuppgiftsläckage via extern attack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Hög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Kritisk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KRITISK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Åtgärder pågår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2. Insiderhot - Anställd missbrukar åtkomst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Måttlig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Stor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HÖG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Övervakas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3. Ransomware-attack krypterar system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Hög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Kritisk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KRITISK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Åtgärder pågår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4. GDPR-brott via felkonfiguration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Hög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Stor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HÖG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Prioriterat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5. Incident hos personuppgiftsbiträde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Hög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Stor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HÖG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Uppföljning</a:t>
                      </a:r>
                      <a:endParaRPr lang="en-US" sz="90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457200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 risker kräver kontinuerlig uppföljning och revidering vid förändringar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5F4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POLICY: Dataskydd &amp; IT-säkerhet</a:t>
            </a:r>
            <a:endParaRPr lang="en-US" sz="3600"/>
          </a:p>
        </p:txBody>
      </p:sp>
      <p:sp>
        <p:nvSpPr>
          <p:cNvPr id="6" name="Shape 4"/>
          <p:cNvSpPr/>
          <p:nvPr/>
        </p:nvSpPr>
        <p:spPr>
          <a:xfrm>
            <a:off x="274320" y="830013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457200" y="903165"/>
            <a:ext cx="82296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A5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SYFTE OCH OMFATTNING
</a:t>
            </a: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Denna policy fastställer Försäkringskassans ramverk för dataskydd och IT-säkerhet. Policyn omfattar all behandling av personuppgifter och alla IT-system. Den är bindande för alla anställda, konsulter och biträden.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274320" y="1563637"/>
            <a:ext cx="8595360" cy="123884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463279" y="1566414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A5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GRUNDPRINCIPER
</a:t>
            </a: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Personuppgifter behandlas lagligt, korrekt och transparent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Ändamålsbegränsning: Data samlas in för specifika syften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Dataminimering: Bara nödvändiga uppgifter behandlas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Korrekthet: Felaktiga uppgifter rättas eller raderas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Lagringsminimering: Data sparas inte längre än nödvändigt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Integritet och konfidentialitet: Skydd mot obehörig behandling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Ansvarsskyldighet: Vi kan visa att vi följer GDPR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82745" y="2924325"/>
            <a:ext cx="8595360" cy="10927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454681" y="3025344"/>
            <a:ext cx="8229600" cy="4480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A5F4F"/>
                </a:solidFill>
                <a:latin typeface="Arial"/>
                <a:ea typeface="Arial" pitchFamily="34" charset="-122"/>
                <a:cs typeface="Arial"/>
              </a:rPr>
              <a:t>3. ROLLER OCH ANSVAR
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Personuppgiftsansvarig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: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Försäkringskassan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som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myndighet</a:t>
            </a:r>
            <a:endParaRPr lang="en-US" sz="1000" err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DSO (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Dataskyddsombud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):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Övervakar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efterlevnad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,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rådgivning</a:t>
            </a:r>
            <a:endParaRPr lang="en-US" sz="1000" err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IT-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säkerhetschef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: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Ansvarig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för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tekniska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säkerhetsåtgärder</a:t>
            </a:r>
            <a:endParaRPr lang="en-US" sz="1000" err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Systemägare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: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Ansvarig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för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specifika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systems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säkerhet</a:t>
            </a:r>
            <a:endParaRPr lang="en-US" sz="1000" err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All personal: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Rapportera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misstänkta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incidenter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omedelbart</a:t>
            </a:r>
            <a:endParaRPr lang="en-US" sz="1000" err="1">
              <a:latin typeface="Arial"/>
              <a:cs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Brott mot denna policy kan leda till disciplinära åtgärder och juridiska konsekvenser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5F4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POLICY: </a:t>
            </a:r>
            <a:r>
              <a:rPr lang="en-US" sz="2800" b="1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Säkerhetsåtgärder</a:t>
            </a:r>
            <a:r>
              <a:rPr lang="en-US" sz="28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 &amp; </a:t>
            </a:r>
            <a:r>
              <a:rPr lang="en-US" sz="2800" b="1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Efterlevnad</a:t>
            </a:r>
            <a:endParaRPr lang="en-US" sz="2800" err="1">
              <a:latin typeface="Georg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642392"/>
            <a:ext cx="8595360" cy="106209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459386" y="640674"/>
            <a:ext cx="8229600" cy="38506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A5F4F"/>
                </a:solidFill>
                <a:latin typeface="Arial"/>
                <a:ea typeface="Arial" pitchFamily="34" charset="-122"/>
                <a:cs typeface="Arial"/>
              </a:rPr>
              <a:t>4. TEKNISKA SÄKERHETSÅTGÄRDER</a:t>
            </a:r>
            <a:endParaRPr lang="en-US" sz="900">
              <a:solidFill>
                <a:srgbClr val="2C3E50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Multifaktorautentisering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(MFA) för all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systemåtkomst</a:t>
            </a:r>
            <a:endParaRPr lang="en-US" sz="1000" err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Rollbaserad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åtkomstskontroll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(RBAC)</a:t>
            </a:r>
            <a:endParaRPr lang="en-US" sz="1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Loggning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och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övervakning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av all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åtkomst</a:t>
            </a:r>
            <a:endParaRPr lang="en-US" sz="1000" err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Regelbundna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sårbarhetsanalyser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och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penetrationstester</a:t>
            </a:r>
            <a:endParaRPr lang="en-US" sz="1000" err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Säkerhetskopior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enligt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3-2-1-regeln</a:t>
            </a:r>
            <a:endParaRPr lang="en-US" sz="1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Intrångsskydd</a:t>
            </a:r>
            <a:r>
              <a:rPr lang="en-US" sz="9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(IDS/IPS) och </a:t>
            </a:r>
            <a:r>
              <a:rPr lang="en-US" sz="9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brandväggar</a:t>
            </a:r>
            <a:endParaRPr lang="en-US" sz="1000" err="1">
              <a:latin typeface="Arial"/>
              <a:cs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713041"/>
            <a:ext cx="8595360" cy="1147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A5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ORGANISATORISKA ÅTGÄRDER
</a:t>
            </a: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Årlig GDPR-utbildning för all personal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Dataskyddskonsekvensbedömning (DPIA) för nya system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Personuppgiftsbiträdesavtal med alla leverantörer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Incidentberedskap och övningar kvartalsvis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Regelbundna säkerhetsaudits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Privacy by Design i all systemutveckling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274320" y="3003901"/>
            <a:ext cx="8595360" cy="93507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457200" y="3004096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A5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INCIDENTHANTERING
</a:t>
            </a: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Alla misstänkta incidenter rapporteras omedelbart till IT-säkerhet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 personuppgiftsincident: DPO kontaktas inom 1 timme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IMY-anmälan inom 72h om hög risk för registrerade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Informera registrerade vid hög risk för deras rättigheter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Fullständig dokumentation av alla incidenter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74320" y="4021991"/>
            <a:ext cx="8595360" cy="92338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457200" y="4023824"/>
            <a:ext cx="8229600" cy="3789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A5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EFTERLEVNAD OCH REVISION
</a:t>
            </a: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Årlig översyn av policy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Kvartalsvis rapportering till ledning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 audit minst en gång per år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Extern audit vartannat år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Kontinuerlig uppföljning av biträden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INCIDENTRAPPORTERINGSPLAN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20040"/>
          </a:xfrm>
          <a:prstGeom prst="rect">
            <a:avLst/>
          </a:prstGeom>
          <a:solidFill>
            <a:srgbClr val="F8F9FA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 misstänkt säkerhetsincident eller personuppgiftsincident - följ denna plan OMEDELBART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828800" cy="3657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0-15 min
</a:t>
            </a: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UPPTÄCKT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2468880" y="1183332"/>
            <a:ext cx="4572000" cy="439728"/>
          </a:xfrm>
          <a:prstGeom prst="rect">
            <a:avLst/>
          </a:prstGeom>
          <a:solidFill>
            <a:srgbClr val="F8F9FA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2560320" y="1184148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Identifiera incident (SIEM, personal, extern part)</a:t>
            </a:r>
            <a:endParaRPr lang="en-US" sz="750"/>
          </a:p>
          <a:p>
            <a:pPr marL="0" indent="0">
              <a:buNone/>
            </a:pPr>
            <a:r>
              <a:rPr lang="en-US" sz="7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Preliminär bedömning: IT-säkerhet eller personuppgifter?</a:t>
            </a:r>
            <a:endParaRPr lang="en-US" sz="750"/>
          </a:p>
          <a:p>
            <a:pPr marL="0" indent="0">
              <a:buNone/>
            </a:pPr>
            <a:r>
              <a:rPr lang="en-US" sz="7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Dokumentera: Vad, När, Var, Vem upptäckte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7223760" y="1194598"/>
            <a:ext cx="1645920" cy="3657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7315200" y="124129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☎ IT-säkerhet: 010-XXX XX XX (24/7)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1280160" y="1600200"/>
            <a:ext cx="173082" cy="137160"/>
          </a:xfrm>
          <a:prstGeom prst="rect">
            <a:avLst/>
          </a:prstGeom>
          <a:solidFill>
            <a:srgbClr val="5A6C7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15-60 min
</a:t>
            </a: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ESKALERING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2468880" y="1705764"/>
            <a:ext cx="4572000" cy="557376"/>
          </a:xfrm>
          <a:prstGeom prst="rect">
            <a:avLst/>
          </a:prstGeom>
          <a:solidFill>
            <a:srgbClr val="F8F9FA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2560320" y="1698334"/>
            <a:ext cx="4389120" cy="6333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IT-säkerhet bekräftar och klassificerar incident</a:t>
            </a:r>
            <a:endParaRPr lang="en-US" sz="750"/>
          </a:p>
          <a:p>
            <a:pPr marL="0" indent="0">
              <a:buNone/>
            </a:pPr>
            <a:r>
              <a:rPr lang="en-US" sz="7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Om personuppgiftsincident: Kontakta DPO OMEDELBART</a:t>
            </a:r>
            <a:endParaRPr lang="en-US" sz="750"/>
          </a:p>
          <a:p>
            <a:pPr marL="0" indent="0">
              <a:buNone/>
            </a:pPr>
            <a:r>
              <a:rPr lang="en-US" sz="7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Informera incidentteam och systemägare</a:t>
            </a:r>
            <a:endParaRPr lang="en-US" sz="750"/>
          </a:p>
          <a:p>
            <a:pPr marL="0" indent="0">
              <a:buNone/>
            </a:pPr>
            <a:r>
              <a:rPr lang="en-US" sz="7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Säkra bevis: loggar, screenshots, minnesdum</a:t>
            </a:r>
            <a:endParaRPr lang="en-US" sz="750"/>
          </a:p>
        </p:txBody>
      </p:sp>
      <p:sp>
        <p:nvSpPr>
          <p:cNvPr id="17" name="Shape 15"/>
          <p:cNvSpPr/>
          <p:nvPr/>
        </p:nvSpPr>
        <p:spPr>
          <a:xfrm>
            <a:off x="7233558" y="1802021"/>
            <a:ext cx="1645920" cy="3657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7315200" y="184382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☎ DSO: 010-YYY YY YY</a:t>
            </a:r>
            <a:endParaRPr lang="en-US" sz="800"/>
          </a:p>
        </p:txBody>
      </p:sp>
      <p:sp>
        <p:nvSpPr>
          <p:cNvPr id="19" name="Shape 17"/>
          <p:cNvSpPr/>
          <p:nvPr/>
        </p:nvSpPr>
        <p:spPr>
          <a:xfrm>
            <a:off x="1280159" y="2103120"/>
            <a:ext cx="173083" cy="251460"/>
          </a:xfrm>
          <a:prstGeom prst="rect">
            <a:avLst/>
          </a:prstGeom>
          <a:solidFill>
            <a:srgbClr val="5A6C7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434340" y="2333026"/>
            <a:ext cx="1828800" cy="3657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480060" y="236960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1-4 h
</a:t>
            </a: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2466431" y="2331720"/>
            <a:ext cx="4572000" cy="365760"/>
          </a:xfrm>
          <a:prstGeom prst="rect">
            <a:avLst/>
          </a:prstGeom>
          <a:solidFill>
            <a:srgbClr val="F8F9FA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2514600" y="2290245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Isolera drabbade system om möjligt</a:t>
            </a:r>
            <a:endParaRPr lang="en-US" sz="750"/>
          </a:p>
          <a:p>
            <a:pPr marL="0" indent="0">
              <a:buNone/>
            </a:pPr>
            <a:r>
              <a:rPr lang="en-US" sz="7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Stoppa pågående läckage</a:t>
            </a:r>
            <a:endParaRPr lang="en-US" sz="750"/>
          </a:p>
          <a:p>
            <a:pPr marL="0" indent="0">
              <a:buNone/>
            </a:pPr>
            <a:r>
              <a:rPr lang="en-US" sz="7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Bedöm omfattning: Hur många registrerade </a:t>
            </a:r>
            <a:r>
              <a:rPr lang="en-US" sz="75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påverkas</a:t>
            </a:r>
            <a:r>
              <a:rPr lang="en-US" sz="7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750"/>
          </a:p>
        </p:txBody>
      </p:sp>
      <p:sp>
        <p:nvSpPr>
          <p:cNvPr id="24" name="Shape 22"/>
          <p:cNvSpPr/>
          <p:nvPr/>
        </p:nvSpPr>
        <p:spPr>
          <a:xfrm>
            <a:off x="7223760" y="2331720"/>
            <a:ext cx="1645920" cy="3657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7324998" y="234037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Dokumentera ALLT löpande</a:t>
            </a:r>
            <a:endParaRPr lang="en-US" sz="800"/>
          </a:p>
        </p:txBody>
      </p:sp>
      <p:sp>
        <p:nvSpPr>
          <p:cNvPr id="26" name="Shape 24"/>
          <p:cNvSpPr/>
          <p:nvPr/>
        </p:nvSpPr>
        <p:spPr>
          <a:xfrm>
            <a:off x="1280160" y="2688336"/>
            <a:ext cx="173082" cy="237744"/>
          </a:xfrm>
          <a:prstGeom prst="rect">
            <a:avLst/>
          </a:prstGeom>
          <a:solidFill>
            <a:srgbClr val="5A6C7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7" name="Shape 25"/>
          <p:cNvSpPr/>
          <p:nvPr/>
        </p:nvSpPr>
        <p:spPr>
          <a:xfrm>
            <a:off x="457200" y="2887381"/>
            <a:ext cx="1828800" cy="3657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45720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&lt;72 h
</a:t>
            </a: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RAPPORTERING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2468880" y="2743200"/>
            <a:ext cx="4572000" cy="626364"/>
          </a:xfrm>
          <a:prstGeom prst="rect">
            <a:avLst/>
          </a:prstGeom>
          <a:solidFill>
            <a:srgbClr val="F8F9F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2560320" y="2770631"/>
            <a:ext cx="4389120" cy="5599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IMY-</a:t>
            </a:r>
            <a:r>
              <a:rPr lang="en-US" sz="75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anmälan</a:t>
            </a: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75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senast</a:t>
            </a: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72h </a:t>
            </a:r>
            <a:r>
              <a:rPr lang="en-US" sz="75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efter</a:t>
            </a: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75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upptäckt</a:t>
            </a: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(om </a:t>
            </a:r>
            <a:r>
              <a:rPr lang="en-US" sz="75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nödvändigt</a:t>
            </a: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)</a:t>
            </a:r>
            <a:endParaRPr lang="en-US" sz="75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75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Informera</a:t>
            </a: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75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registrerade</a:t>
            </a: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vid </a:t>
            </a:r>
            <a:r>
              <a:rPr lang="en-US" sz="75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hög</a:t>
            </a: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risk</a:t>
            </a:r>
            <a:endParaRPr lang="en-US" sz="75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75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Informera</a:t>
            </a: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75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ledning</a:t>
            </a: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och </a:t>
            </a:r>
            <a:r>
              <a:rPr lang="en-US" sz="75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berörd</a:t>
            </a: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75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verksamhet</a:t>
            </a:r>
            <a:endParaRPr lang="en-US" sz="75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75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Komplett</a:t>
            </a: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75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incidentrapport</a:t>
            </a:r>
            <a:r>
              <a:rPr lang="en-US" sz="75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till DSO</a:t>
            </a:r>
            <a:endParaRPr lang="en-US" sz="750"/>
          </a:p>
        </p:txBody>
      </p:sp>
      <p:sp>
        <p:nvSpPr>
          <p:cNvPr id="31" name="Shape 29"/>
          <p:cNvSpPr/>
          <p:nvPr/>
        </p:nvSpPr>
        <p:spPr>
          <a:xfrm>
            <a:off x="7223760" y="2838232"/>
            <a:ext cx="1645920" cy="3657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7315200" y="28575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IMY: datainspektionen.se</a:t>
            </a:r>
            <a:endParaRPr lang="en-US" sz="800"/>
          </a:p>
        </p:txBody>
      </p:sp>
      <p:sp>
        <p:nvSpPr>
          <p:cNvPr id="33" name="Shape 31"/>
          <p:cNvSpPr/>
          <p:nvPr/>
        </p:nvSpPr>
        <p:spPr>
          <a:xfrm>
            <a:off x="274320" y="3497580"/>
            <a:ext cx="8595360" cy="53492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434340" y="346688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KRITISKA TIDSFRISTER:
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DSO kontaktas inom 1h vid personuppgiftsincident
• IMY-anmälan senast 72h efter upptäckt (om hög risk för registrerade)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274320" y="4091940"/>
            <a:ext cx="859536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0A5F4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404132" y="4160520"/>
            <a:ext cx="8229600" cy="82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A5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DOKUMENTATIONSKRAV (spara allt!):
</a:t>
            </a: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Tidsstämplar för alla åtgärder
• Loggar, screenshots, minnesdum
• Omfattning: Antal registrerade, typ av data
• Beslut och kommunikation
• Mall för incidentrapport: [länk till intranät]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Klassificering &amp; Eskaleringsnivåer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097280" cy="2743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KRITISK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1554480" y="777240"/>
            <a:ext cx="37490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645920" y="822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KRITERIER:
</a:t>
            </a: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Personuppgifter för &gt;1000 registrerade läcker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Känsliga personuppgifter (hälsa, etnicitet) exponeras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Fullständigt driftstopp &gt;4h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Ransomware med datakryptering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Publicering av data på dark web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5394960" y="777240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5486400" y="8229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ÅTGÄRD:
</a:t>
            </a: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Omedelbar eskalering till: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Ledningsgrupp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DPO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IT-säkerhetschef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Presskommunikation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IMY-anmälan inom 72h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109728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365760" y="1645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HÖG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1554480" y="1645920"/>
            <a:ext cx="37490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1645920" y="16916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KRITERIER:
</a:t>
            </a: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Personuppgifter för 100-1000 registrerade påverkas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Obehörig åtkomst till känsliga system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Driftstörning 1-4h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Insiderhot bekräftat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Biträde drabbas av incident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5394960" y="1645920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5486400" y="16916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ÅTGÄRD:
</a:t>
            </a: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Eskalering till: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DPO (inom 1h)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IT-säkerhetschef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Systemägare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Bedöm IMY-anmälan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Informera ledning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1097280" cy="2743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36576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MEDEL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1550215" y="2514600"/>
            <a:ext cx="37490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645920" y="25603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KRITERIER:
</a:t>
            </a: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Personuppgifter för &lt;100 registrerade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Misstänkt obehörig åtkomst (ej bekräftad)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Driftstörning &lt;1h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GDPR-avvikelse utan läckage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Felkonfiguration upptäckt i tid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5394960" y="2514600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5486400" y="25603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ÅTGÄRD:
</a:t>
            </a: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Hantering: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IT-säkerhet utreder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DPO informeras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Dokumenteras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Åtgärdas inom 1 vecka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109728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36576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LÅG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1554480" y="3383280"/>
            <a:ext cx="37490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1645920" y="3429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KRITERIER:
</a:t>
            </a: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Inga personuppgifter påverkade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Teknisk incident utan integritetsrisk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Falskt alarm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Minor policy-avvikelse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Proaktivt upptäckt sårbarhet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5394960" y="3383280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5486400" y="3429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ÅTGÄRD:
</a:t>
            </a: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Rutin: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IT-drift hanterar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Dokumenteras</a:t>
            </a:r>
            <a:endParaRPr lang="en-US" sz="900"/>
          </a:p>
          <a:p>
            <a:pPr marL="0" indent="0">
              <a:buNone/>
            </a:pPr>
            <a:r>
              <a:rPr lang="en-US" sz="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Uppföljning vid behov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274320" y="4251190"/>
            <a:ext cx="8595360" cy="624154"/>
          </a:xfrm>
          <a:prstGeom prst="rect">
            <a:avLst/>
          </a:prstGeom>
          <a:solidFill>
            <a:srgbClr val="0A5F4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SNABBGUIDE: Personuppgiftsincident?
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 → Kontakta DPO omedelbart → Klassificera enligt ovan → Följ incidentplan
NEJ → IT-säkerhet hanterar teknisk incident → Dokumentera → Uppföljning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103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A5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Rekommendationer &amp; Nästa steg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274320" y="586604"/>
            <a:ext cx="8595360" cy="365760"/>
          </a:xfrm>
          <a:prstGeom prst="rect">
            <a:avLst/>
          </a:prstGeom>
          <a:solidFill>
            <a:srgbClr val="0A5F4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274320" y="6151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PRIORITERADE ÅTGÄRDER (0-3 månader)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457200" y="996859"/>
            <a:ext cx="8229600" cy="19275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1.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Implementera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multifaktorautentisering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(MFA) för ALL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systemåtkomst</a:t>
            </a:r>
            <a:endParaRPr lang="en-US" sz="1100" err="1">
              <a:latin typeface="Arial"/>
              <a:cs typeface="Arial"/>
            </a:endParaRPr>
          </a:p>
          <a:p>
            <a:pPr marL="0" indent="0">
              <a:buNone/>
            </a:pPr>
            <a:endParaRPr lang="en-US" sz="1100"/>
          </a:p>
          <a:p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2.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Genomför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DPIA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enligt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GDPR för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befintliga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kritiska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system</a:t>
            </a:r>
            <a:endParaRPr lang="en-US" sz="1100">
              <a:latin typeface="Arial"/>
              <a:cs typeface="Arial"/>
            </a:endParaRPr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3.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Granska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och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uppdatera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alla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personuppgiftsbiträdesavtal</a:t>
            </a:r>
            <a:endParaRPr lang="en-US" sz="1100" err="1">
              <a:latin typeface="Arial"/>
              <a:cs typeface="Arial"/>
            </a:endParaRPr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4.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Etablera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24/7 SOC-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övervakning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med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tydliga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eskaleringsvägar</a:t>
            </a:r>
            <a:endParaRPr lang="en-US" sz="1100" err="1">
              <a:latin typeface="Arial"/>
              <a:cs typeface="Arial"/>
            </a:endParaRPr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5.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Utbilda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IT-personal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i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GDPR och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dataskyddsprinciper</a:t>
            </a:r>
            <a:endParaRPr lang="en-US" sz="1100" err="1">
              <a:latin typeface="Arial"/>
              <a:cs typeface="Arial"/>
            </a:endParaRPr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6.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Godkänn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och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kommunicera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err="1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dataskyddspolicy</a:t>
            </a:r>
            <a:r>
              <a:rPr lang="en-US" sz="1100">
                <a:solidFill>
                  <a:srgbClr val="2C3E50"/>
                </a:solidFill>
                <a:latin typeface="Arial"/>
                <a:ea typeface="Arial" pitchFamily="34" charset="-122"/>
                <a:cs typeface="Arial"/>
              </a:rPr>
              <a:t> till all personal</a:t>
            </a:r>
            <a:endParaRPr lang="en-US" sz="1100">
              <a:latin typeface="Arial"/>
              <a:cs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2898320"/>
            <a:ext cx="8595360" cy="3657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274320" y="2946489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LÅNGSIKTIGA ÅTGÄRDER (3-12 månader)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384537" y="3265306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Zero Trust-arkitektur för nätverkssegmentering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Automatiserad GDPR-compliance monitoring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Privacy by Design i alla nya IT-projekt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Årliga penetrationstester av externa specialister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Incident Response-övningar kvartalsvis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84537" y="4960620"/>
            <a:ext cx="8595360" cy="18288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457200" y="49606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Nästa översyn av riskanalys och policy: 2026-07-09 (6 månader)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7910" y="1991129"/>
            <a:ext cx="4080456" cy="11404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algn="ctr">
              <a:defRPr sz="3600" b="1">
                <a:solidFill>
                  <a:srgbClr val="1A5490"/>
                </a:solidFill>
              </a:defRPr>
            </a:pPr>
            <a:r>
              <a:t>TACK FÖR ER UPPMÄRKSAMHET!</a:t>
            </a:r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-420711" y="1174124"/>
            <a:ext cx="5243849" cy="21915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spcAft>
                <a:spcPts val="3000"/>
              </a:spcAft>
              <a:buNone/>
              <a:defRPr sz="2000">
                <a:solidFill>
                  <a:srgbClr val="2C5F8D"/>
                </a:solidFill>
              </a:defRPr>
            </a:pPr>
            <a:r>
              <a:rPr err="1"/>
              <a:t>Presenterat</a:t>
            </a:r>
            <a:r>
              <a:t> av:</a:t>
            </a:r>
            <a:r>
              <a:rPr lang="sv-SE"/>
              <a:t> </a:t>
            </a:r>
          </a:p>
          <a:p>
            <a:pPr marL="0" indent="0" algn="ctr">
              <a:spcAft>
                <a:spcPts val="3000"/>
              </a:spcAft>
              <a:buNone/>
              <a:defRPr sz="2000">
                <a:solidFill>
                  <a:srgbClr val="2C5F8D"/>
                </a:solidFill>
              </a:defRPr>
            </a:pPr>
            <a:r>
              <a:t>J to A to C O P</a:t>
            </a:r>
          </a:p>
          <a:p>
            <a:pPr algn="ctr">
              <a:spcAft>
                <a:spcPts val="4000"/>
              </a:spcAft>
              <a:defRPr sz="1600" i="1">
                <a:solidFill>
                  <a:srgbClr val="646464"/>
                </a:solidFill>
              </a:defRPr>
            </a:pPr>
            <a:r>
              <a:t>That's me that's me that's me that's me</a:t>
            </a:r>
            <a:r>
              <a:rPr lang="sv-SE"/>
              <a:t> </a:t>
            </a:r>
            <a:r>
              <a:rPr lang="sv-SE" err="1"/>
              <a:t>that's</a:t>
            </a:r>
            <a:r>
              <a:rPr lang="sv-SE"/>
              <a:t> </a:t>
            </a:r>
            <a:r>
              <a:rPr lang="sv-SE" err="1"/>
              <a:t>me</a:t>
            </a:r>
            <a:endParaRPr/>
          </a:p>
          <a:p>
            <a:pPr algn="ctr">
              <a:spcAft>
                <a:spcPts val="500"/>
              </a:spcAft>
              <a:defRPr sz="3200" b="1">
                <a:solidFill>
                  <a:srgbClr val="1A5490"/>
                </a:solidFill>
              </a:defRPr>
            </a:pPr>
            <a:r>
              <a:t>F to A to B I A N</a:t>
            </a:r>
          </a:p>
          <a:p>
            <a:pPr algn="ctr">
              <a:spcAft>
                <a:spcPts val="5000"/>
              </a:spcAft>
              <a:defRPr sz="1600" i="1">
                <a:solidFill>
                  <a:srgbClr val="646464"/>
                </a:solidFill>
              </a:defRPr>
            </a:pPr>
            <a:r>
              <a:t>Presentation done, now it's up to you!</a:t>
            </a:r>
          </a:p>
          <a:p>
            <a:pPr algn="ctr">
              <a:defRPr sz="2400" b="1">
                <a:solidFill>
                  <a:srgbClr val="2C5F8D"/>
                </a:solidFill>
              </a:defRPr>
            </a:pPr>
            <a:endParaRPr lang="sv-SE"/>
          </a:p>
          <a:p>
            <a:pPr algn="ctr">
              <a:defRPr sz="2400" b="1">
                <a:solidFill>
                  <a:srgbClr val="2C5F8D"/>
                </a:solidFill>
              </a:defRPr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648322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500"/>
              </a:lnSpc>
              <a:buNone/>
            </a:pPr>
            <a:endParaRPr lang="en-US" sz="440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508C1B3C-F4E0-8B9E-9102-E8E425E0C235}"/>
              </a:ext>
            </a:extLst>
          </p:cNvPr>
          <p:cNvSpPr txBox="1"/>
          <p:nvPr/>
        </p:nvSpPr>
        <p:spPr>
          <a:xfrm>
            <a:off x="-326264" y="3472141"/>
            <a:ext cx="4782354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3000"/>
              </a:spcAft>
              <a:defRPr sz="2000">
                <a:solidFill>
                  <a:srgbClr val="2C5F8D"/>
                </a:solidFill>
              </a:defRPr>
            </a:pPr>
            <a:r>
              <a:rPr lang="sv-SE"/>
              <a:t>And Ervin is </a:t>
            </a:r>
            <a:r>
              <a:rPr lang="sv-SE" err="1"/>
              <a:t>somewhere</a:t>
            </a:r>
            <a:r>
              <a:rPr lang="sv-SE"/>
              <a:t> in </a:t>
            </a:r>
            <a:r>
              <a:rPr lang="sv-SE" err="1"/>
              <a:t>there</a:t>
            </a:r>
            <a:r>
              <a:rPr lang="sv-SE"/>
              <a:t> </a:t>
            </a:r>
            <a:r>
              <a:rPr lang="sv-SE" err="1"/>
              <a:t>too</a:t>
            </a:r>
            <a:endParaRPr lang="pl-P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Bildspel på skärmen (16:9)</PresentationFormat>
  <Slides>13</Slides>
  <Notes>12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13</vt:i4>
      </vt:variant>
    </vt:vector>
  </HeadingPairs>
  <TitlesOfParts>
    <vt:vector size="14" baseType="lpstr"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Riskanalys - Dataskydd &amp; IT-säkerhet</dc:title>
  <dc:subject>Riskanalys och incidenthantering</dc:subject>
  <dc:creator>Försäkringskassan</dc:creator>
  <cp:revision>3</cp:revision>
  <dcterms:created xsi:type="dcterms:W3CDTF">2026-01-09T11:12:02Z</dcterms:created>
  <dcterms:modified xsi:type="dcterms:W3CDTF">2026-02-08T13:38:50Z</dcterms:modified>
</cp:coreProperties>
</file>